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dirty="0"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dirty="0"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6F822A4-8DA6-4447-9B1F-C5DB58435268}" type="datetimeFigureOut">
              <a:rPr lang="en-US" dirty="0"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dirty="0"/>
              <a:t>11/12/2025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dirty="0"/>
              <a:t>11/12/2025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dirty="0"/>
              <a:t>11/12/2025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dirty="0"/>
              <a:t>11/12/2025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dirty="0"/>
              <a:t>11/12/2025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dirty="0"/>
              <a:t>11/12/2025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dirty="0"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dirty="0"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dirty="0"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B255DAA1-8AC4-ADB4-814E-D53B7D566C0C}"/>
                  </a:ext>
                </a:extLst>
              </p:cNvPr>
              <p:cNvSpPr>
                <a:spLocks noGrp="1"/>
              </p:cNvSpPr>
              <p:nvPr>
                <p:ph type="ctrTitle"/>
              </p:nvPr>
            </p:nvSpPr>
            <p:spPr>
              <a:xfrm>
                <a:off x="1051560" y="1360505"/>
                <a:ext cx="9966960" cy="3035808"/>
              </a:xfrm>
            </p:spPr>
            <p:txBody>
              <a:bodyPr/>
              <a:lstStyle/>
              <a:p>
                <a:r>
                  <a:rPr lang="pt-BR" sz="7200" dirty="0" err="1"/>
                  <a:t>Array</a:t>
                </a:r>
                <a:r>
                  <a:rPr lang="pt-BR" sz="7200" dirty="0"/>
                  <a:t> </a:t>
                </a:r>
                <a14:m>
                  <m:oMath xmlns:m="http://schemas.openxmlformats.org/officeDocument/2006/math">
                    <m:r>
                      <a:rPr lang="pt-BR" sz="7200" i="1" smtClean="0">
                        <a:latin typeface="Cambria Math" panose="02040503050406030204" pitchFamily="18" charset="0"/>
                      </a:rPr>
                      <m:t>⊂</m:t>
                    </m:r>
                  </m:oMath>
                </a14:m>
                <a:r>
                  <a:rPr lang="pt-BR" sz="7200" dirty="0"/>
                  <a:t> </a:t>
                </a:r>
                <a:r>
                  <a:rPr lang="pt-BR" sz="7200" dirty="0" err="1"/>
                  <a:t>Numpy</a:t>
                </a:r>
                <a:r>
                  <a:rPr lang="pt-BR" sz="7200" dirty="0"/>
                  <a:t> </a:t>
                </a:r>
                <a14:m>
                  <m:oMath xmlns:m="http://schemas.openxmlformats.org/officeDocument/2006/math">
                    <m:r>
                      <a:rPr lang="pt-BR" sz="7200" i="1" smtClean="0">
                        <a:latin typeface="Cambria Math" panose="02040503050406030204" pitchFamily="18" charset="0"/>
                      </a:rPr>
                      <m:t>⊂</m:t>
                    </m:r>
                  </m:oMath>
                </a14:m>
                <a:r>
                  <a:rPr lang="pt-BR" sz="7200" dirty="0"/>
                  <a:t> python</a:t>
                </a:r>
              </a:p>
            </p:txBody>
          </p:sp>
        </mc:Choice>
        <mc:Fallback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B255DAA1-8AC4-ADB4-814E-D53B7D566C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ctrTitle"/>
              </p:nvPr>
            </p:nvSpPr>
            <p:spPr>
              <a:xfrm>
                <a:off x="1051560" y="1360505"/>
                <a:ext cx="9966960" cy="303580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ubtítulo 2">
            <a:extLst>
              <a:ext uri="{FF2B5EF4-FFF2-40B4-BE49-F238E27FC236}">
                <a16:creationId xmlns:a16="http://schemas.microsoft.com/office/drawing/2014/main" id="{703E7B5A-D6FB-AE66-AAB4-832392C3F3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5174" y="4837354"/>
            <a:ext cx="10365531" cy="1069848"/>
          </a:xfrm>
        </p:spPr>
        <p:txBody>
          <a:bodyPr>
            <a:normAutofit/>
          </a:bodyPr>
          <a:lstStyle/>
          <a:p>
            <a:endParaRPr lang="pt-BR" dirty="0"/>
          </a:p>
          <a:p>
            <a:r>
              <a:rPr lang="en-US" dirty="0"/>
              <a:t>Discente</a:t>
            </a:r>
            <a:r>
              <a:rPr lang="en-US" b="1" dirty="0"/>
              <a:t>: MARLLON</a:t>
            </a:r>
            <a:r>
              <a:rPr lang="en-US" dirty="0"/>
              <a:t>, the supreme lord of Python </a:t>
            </a:r>
            <a:r>
              <a:rPr lang="pt-BR" dirty="0"/>
              <a:t>: A humildade é o caminho.</a:t>
            </a:r>
          </a:p>
        </p:txBody>
      </p:sp>
    </p:spTree>
    <p:extLst>
      <p:ext uri="{BB962C8B-B14F-4D97-AF65-F5344CB8AC3E}">
        <p14:creationId xmlns:p14="http://schemas.microsoft.com/office/powerpoint/2010/main" val="37427376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25319CBE-764C-F41C-0DAE-2B3988AA5AB0}"/>
              </a:ext>
            </a:extLst>
          </p:cNvPr>
          <p:cNvSpPr txBox="1"/>
          <p:nvPr/>
        </p:nvSpPr>
        <p:spPr>
          <a:xfrm>
            <a:off x="445008" y="1608613"/>
            <a:ext cx="11301984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600" dirty="0"/>
              <a:t>O objeto principal do </a:t>
            </a:r>
            <a:r>
              <a:rPr lang="pt-BR" sz="1600" dirty="0" err="1"/>
              <a:t>NumPy</a:t>
            </a:r>
            <a:r>
              <a:rPr lang="pt-BR" sz="1600" dirty="0"/>
              <a:t> é o </a:t>
            </a:r>
            <a:r>
              <a:rPr lang="pt-BR" sz="1600" dirty="0" err="1"/>
              <a:t>array</a:t>
            </a:r>
            <a:r>
              <a:rPr lang="pt-BR" sz="1600" dirty="0"/>
              <a:t> multidimensional homogêneo. Trata-se de uma tabela de elementos (geralmente números), todos do mesmo tipo, indexados por uma tupla de inteiros não negativos. No </a:t>
            </a:r>
            <a:r>
              <a:rPr lang="pt-BR" sz="1600" dirty="0" err="1"/>
              <a:t>NumPy</a:t>
            </a:r>
            <a:r>
              <a:rPr lang="pt-BR" sz="1600" dirty="0"/>
              <a:t>, as dimensões são chamadas de </a:t>
            </a:r>
            <a:r>
              <a:rPr lang="pt-BR" sz="1600" i="1" dirty="0"/>
              <a:t>eixos</a:t>
            </a:r>
            <a:r>
              <a:rPr lang="pt-BR" sz="1600" dirty="0"/>
              <a:t> .</a:t>
            </a:r>
          </a:p>
          <a:p>
            <a:pPr algn="just"/>
            <a:endParaRPr lang="pt-BR" sz="1600" dirty="0"/>
          </a:p>
          <a:p>
            <a:pPr algn="just"/>
            <a:r>
              <a:rPr lang="pt-BR" sz="1600" b="1" dirty="0" err="1"/>
              <a:t>Array</a:t>
            </a:r>
            <a:r>
              <a:rPr lang="pt-BR" sz="1600" dirty="0"/>
              <a:t>: O termo </a:t>
            </a:r>
            <a:r>
              <a:rPr lang="pt-BR" sz="1600" b="1" dirty="0" err="1"/>
              <a:t>array</a:t>
            </a:r>
            <a:r>
              <a:rPr lang="pt-BR" sz="1600" dirty="0"/>
              <a:t> (arranjo, vetor ou matriz) se refere a uma </a:t>
            </a:r>
            <a:r>
              <a:rPr lang="pt-BR" sz="1600" b="1" dirty="0"/>
              <a:t>estrutura de dados fundamental</a:t>
            </a:r>
            <a:r>
              <a:rPr lang="pt-BR" sz="1600" dirty="0"/>
              <a:t> na programação, usada para </a:t>
            </a:r>
            <a:r>
              <a:rPr lang="pt-BR" sz="1600" b="1" dirty="0"/>
              <a:t>armazenar uma coleção de elementos</a:t>
            </a:r>
            <a:r>
              <a:rPr lang="pt-BR" sz="1600" dirty="0"/>
              <a:t> sob um único nome de variável.</a:t>
            </a:r>
          </a:p>
          <a:p>
            <a:pPr algn="just"/>
            <a:endParaRPr lang="pt-BR" sz="1600" dirty="0"/>
          </a:p>
          <a:p>
            <a:pPr algn="just"/>
            <a:r>
              <a:rPr lang="pt-BR" sz="1600" b="1" dirty="0"/>
              <a:t>Tupla</a:t>
            </a:r>
            <a:r>
              <a:rPr lang="pt-BR" sz="1600" dirty="0"/>
              <a:t>: sequencia de elementos ou seja é uma coleção ordenada de itens que podem ser de diferentes tipos de dados.</a:t>
            </a:r>
          </a:p>
          <a:p>
            <a:pPr algn="just"/>
            <a:r>
              <a:rPr lang="pt-BR" sz="1600" dirty="0"/>
              <a:t>E são escritas usando ( ), e os elementos são separados por vírgulas por exemplo: ( ‘marllon’,29, ‘Brasil’)</a:t>
            </a:r>
          </a:p>
          <a:p>
            <a:pPr algn="just"/>
            <a:endParaRPr lang="pt-BR" sz="1600" dirty="0"/>
          </a:p>
          <a:p>
            <a:pPr algn="just"/>
            <a:r>
              <a:rPr lang="pt-BR" sz="1600" b="1" dirty="0" err="1"/>
              <a:t>Array</a:t>
            </a:r>
            <a:r>
              <a:rPr lang="pt-BR" sz="1600" b="1" dirty="0"/>
              <a:t> x </a:t>
            </a:r>
            <a:r>
              <a:rPr lang="pt-BR" sz="1600" dirty="0"/>
              <a:t>: [1, 2, 3] tem dimensão 1 e seu eixo tem comprimento 3. Pode ser visto como um vetor.</a:t>
            </a:r>
          </a:p>
          <a:p>
            <a:pPr algn="just"/>
            <a:r>
              <a:rPr lang="pt-BR" sz="1600" b="1" dirty="0" err="1"/>
              <a:t>Array</a:t>
            </a:r>
            <a:r>
              <a:rPr lang="pt-BR" sz="1600" b="1" dirty="0"/>
              <a:t> y </a:t>
            </a:r>
            <a:r>
              <a:rPr lang="pt-BR" sz="1600" dirty="0"/>
              <a:t>: [[1., 0., 0.], [0., 1., 2.]] tem dimensão 2. O primeiro eixo tem comprimento 2, e o segundo tem comprimento 3.Pode ser visto como uma matriz 2x3.</a:t>
            </a:r>
          </a:p>
          <a:p>
            <a:pPr algn="just"/>
            <a:endParaRPr lang="pt-BR" dirty="0"/>
          </a:p>
          <a:p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A5FAECC-5A89-654A-56A4-92A7413DD689}"/>
              </a:ext>
            </a:extLst>
          </p:cNvPr>
          <p:cNvSpPr txBox="1"/>
          <p:nvPr/>
        </p:nvSpPr>
        <p:spPr>
          <a:xfrm>
            <a:off x="5385995" y="818657"/>
            <a:ext cx="9364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pt-BR" dirty="0"/>
              <a:t>ARRAY</a:t>
            </a:r>
          </a:p>
        </p:txBody>
      </p:sp>
    </p:spTree>
    <p:extLst>
      <p:ext uri="{BB962C8B-B14F-4D97-AF65-F5344CB8AC3E}">
        <p14:creationId xmlns:p14="http://schemas.microsoft.com/office/powerpoint/2010/main" val="39831772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FAF63-8E10-692A-4515-C65E50B84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D82CE51-6598-4F8D-3AD4-ACF9C3FB9A24}"/>
              </a:ext>
            </a:extLst>
          </p:cNvPr>
          <p:cNvSpPr txBox="1"/>
          <p:nvPr/>
        </p:nvSpPr>
        <p:spPr>
          <a:xfrm>
            <a:off x="388620" y="206009"/>
            <a:ext cx="11414760" cy="557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pt-BR" dirty="0"/>
          </a:p>
          <a:p>
            <a:pPr algn="just"/>
            <a:r>
              <a:rPr lang="pt-BR" sz="1600" dirty="0"/>
              <a:t>A classe de </a:t>
            </a:r>
            <a:r>
              <a:rPr lang="pt-BR" sz="1600" dirty="0" err="1"/>
              <a:t>array</a:t>
            </a:r>
            <a:r>
              <a:rPr lang="pt-BR" sz="1600" dirty="0"/>
              <a:t> do </a:t>
            </a:r>
            <a:r>
              <a:rPr lang="pt-BR" sz="1600" dirty="0" err="1"/>
              <a:t>NumPy</a:t>
            </a:r>
            <a:r>
              <a:rPr lang="pt-BR" sz="1600" dirty="0"/>
              <a:t> é chamada </a:t>
            </a:r>
            <a:r>
              <a:rPr lang="pt-BR" sz="1600" dirty="0" err="1"/>
              <a:t>ndarray</a:t>
            </a:r>
            <a:r>
              <a:rPr lang="pt-BR" sz="1600" dirty="0"/>
              <a:t>. Observe que </a:t>
            </a:r>
            <a:r>
              <a:rPr lang="pt-BR" sz="1600" dirty="0" err="1"/>
              <a:t>numpy.array</a:t>
            </a:r>
            <a:r>
              <a:rPr lang="pt-BR" sz="1600" dirty="0"/>
              <a:t> não é o mesmo que a classe `</a:t>
            </a:r>
            <a:r>
              <a:rPr lang="pt-BR" sz="1600" dirty="0" err="1"/>
              <a:t>Array</a:t>
            </a:r>
            <a:r>
              <a:rPr lang="pt-BR" sz="1600" dirty="0"/>
              <a:t>` da Biblioteca Padrão do Python </a:t>
            </a:r>
            <a:r>
              <a:rPr lang="pt-BR" sz="1600" dirty="0" err="1"/>
              <a:t>array.array</a:t>
            </a:r>
            <a:r>
              <a:rPr lang="pt-BR" sz="1600" dirty="0"/>
              <a:t>, lida apenas com </a:t>
            </a:r>
            <a:r>
              <a:rPr lang="pt-BR" sz="1600" dirty="0" err="1"/>
              <a:t>arrays</a:t>
            </a:r>
            <a:r>
              <a:rPr lang="pt-BR" sz="1600" dirty="0"/>
              <a:t> unidimensionais e oferece menos funcionalidades. Os atributos mais importantes de um </a:t>
            </a:r>
            <a:r>
              <a:rPr lang="pt-BR" sz="1600" dirty="0" err="1"/>
              <a:t>ndarray</a:t>
            </a:r>
            <a:r>
              <a:rPr lang="pt-BR" sz="1600" dirty="0"/>
              <a:t> objeto são:</a:t>
            </a:r>
          </a:p>
          <a:p>
            <a:endParaRPr lang="pt-BR" sz="1600" dirty="0"/>
          </a:p>
          <a:p>
            <a:r>
              <a:rPr lang="pt-BR" sz="1600" b="1" dirty="0" err="1"/>
              <a:t>ndarray.ndim</a:t>
            </a:r>
            <a:r>
              <a:rPr lang="pt-BR" sz="1600" b="1" dirty="0"/>
              <a:t>: </a:t>
            </a:r>
            <a:r>
              <a:rPr lang="pt-BR" sz="1600" dirty="0"/>
              <a:t>o número de eixos (dimensões) da matriz.</a:t>
            </a:r>
          </a:p>
          <a:p>
            <a:endParaRPr lang="pt-BR" sz="1600" dirty="0"/>
          </a:p>
          <a:p>
            <a:r>
              <a:rPr lang="pt-BR" sz="1600" b="1" dirty="0" err="1"/>
              <a:t>ndarray.formato</a:t>
            </a:r>
            <a:r>
              <a:rPr lang="pt-BR" sz="1600" b="1" dirty="0"/>
              <a:t>: </a:t>
            </a:r>
            <a:r>
              <a:rPr lang="pt-BR" sz="1600" dirty="0"/>
              <a:t>As dimensões da matriz. Trata-se de uma tupla de inteiros que indica o tamanho da matriz em cada dimensão. Para uma matriz com </a:t>
            </a:r>
            <a:r>
              <a:rPr lang="pt-BR" sz="1600" i="1" dirty="0"/>
              <a:t>n</a:t>
            </a:r>
            <a:r>
              <a:rPr lang="pt-BR" sz="1600" dirty="0"/>
              <a:t> linhas e </a:t>
            </a:r>
            <a:r>
              <a:rPr lang="pt-BR" sz="1600" i="1" dirty="0"/>
              <a:t>m</a:t>
            </a:r>
            <a:r>
              <a:rPr lang="pt-BR" sz="1600" dirty="0"/>
              <a:t> colunas, shape será (</a:t>
            </a:r>
            <a:r>
              <a:rPr lang="pt-BR" sz="1600" dirty="0" err="1"/>
              <a:t>n,m</a:t>
            </a:r>
            <a:r>
              <a:rPr lang="pt-BR" sz="1600" dirty="0"/>
              <a:t>). O comprimento da shape tupla é, portanto, o número de eixos, </a:t>
            </a:r>
            <a:r>
              <a:rPr lang="pt-BR" sz="1600" dirty="0" err="1"/>
              <a:t>ndim</a:t>
            </a:r>
            <a:r>
              <a:rPr lang="pt-BR" sz="1600" dirty="0"/>
              <a:t>.</a:t>
            </a:r>
          </a:p>
          <a:p>
            <a:endParaRPr lang="pt-BR" sz="1600" dirty="0"/>
          </a:p>
          <a:p>
            <a:r>
              <a:rPr lang="pt-BR" sz="1600" b="1" dirty="0" err="1"/>
              <a:t>ndarray.size</a:t>
            </a:r>
            <a:r>
              <a:rPr lang="pt-BR" sz="1600" b="1" dirty="0"/>
              <a:t>: </a:t>
            </a:r>
            <a:r>
              <a:rPr lang="pt-BR" sz="1600" dirty="0"/>
              <a:t>o número total de elementos da matriz. Isso é igual ao produto dos elementos de shape.</a:t>
            </a:r>
          </a:p>
          <a:p>
            <a:endParaRPr lang="pt-BR" sz="1600" dirty="0"/>
          </a:p>
          <a:p>
            <a:r>
              <a:rPr lang="pt-BR" sz="1600" b="1" dirty="0" err="1"/>
              <a:t>ndarray.dtype</a:t>
            </a:r>
            <a:r>
              <a:rPr lang="pt-BR" sz="1600" b="1" dirty="0"/>
              <a:t>: </a:t>
            </a:r>
            <a:r>
              <a:rPr lang="pt-BR" sz="1600" dirty="0"/>
              <a:t>Um objeto que descreve o tipo dos elementos na matriz. É possível criar ou especificar tipos de dados usando tipos padrão do Python. Além disso, o </a:t>
            </a:r>
            <a:r>
              <a:rPr lang="pt-BR" sz="1600" dirty="0" err="1"/>
              <a:t>NumPy</a:t>
            </a:r>
            <a:r>
              <a:rPr lang="pt-BR" sz="1600" dirty="0"/>
              <a:t> fornece seus próprios tipos. numpy.int32, numpy.int16 e numpy.float64 são alguns exemplos.</a:t>
            </a:r>
          </a:p>
          <a:p>
            <a:endParaRPr lang="pt-BR" sz="1600" dirty="0"/>
          </a:p>
          <a:p>
            <a:r>
              <a:rPr lang="pt-BR" sz="1600" b="1" dirty="0" err="1"/>
              <a:t>ndarray.itemsize</a:t>
            </a:r>
            <a:r>
              <a:rPr lang="pt-BR" sz="1600" b="1" dirty="0"/>
              <a:t>: </a:t>
            </a:r>
            <a:r>
              <a:rPr lang="pt-BR" sz="1600" dirty="0"/>
              <a:t>O tamanho em bytes de cada elemento da matriz. Por exemplo, uma matriz de elementos do </a:t>
            </a:r>
            <a:r>
              <a:rPr lang="pt-BR" sz="1600"/>
              <a:t>tipo float64 </a:t>
            </a:r>
            <a:r>
              <a:rPr lang="pt-BR" sz="1600" dirty="0"/>
              <a:t>tem </a:t>
            </a:r>
            <a:r>
              <a:rPr lang="pt-BR" sz="1600" dirty="0" err="1"/>
              <a:t>itemsize</a:t>
            </a:r>
            <a:r>
              <a:rPr lang="pt-BR" sz="1600" dirty="0"/>
              <a:t> 8 (=64/8), enquanto uma do tipo complex32 tem </a:t>
            </a:r>
            <a:r>
              <a:rPr lang="pt-BR" sz="1600" dirty="0" err="1"/>
              <a:t>itemsize</a:t>
            </a:r>
            <a:r>
              <a:rPr lang="pt-BR" sz="1600" dirty="0"/>
              <a:t> 4 (=32/8). É equivalente a </a:t>
            </a:r>
            <a:r>
              <a:rPr lang="pt-BR" sz="1600" dirty="0" err="1"/>
              <a:t>ndarray.dtype.itemsize</a:t>
            </a:r>
            <a:r>
              <a:rPr lang="pt-BR" sz="1600" dirty="0"/>
              <a:t>.</a:t>
            </a:r>
          </a:p>
          <a:p>
            <a:endParaRPr lang="pt-BR" sz="1600" dirty="0"/>
          </a:p>
          <a:p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F21FD40-56DF-00C8-1DF9-4897DF858B0A}"/>
              </a:ext>
            </a:extLst>
          </p:cNvPr>
          <p:cNvSpPr txBox="1"/>
          <p:nvPr/>
        </p:nvSpPr>
        <p:spPr>
          <a:xfrm>
            <a:off x="5413427" y="206009"/>
            <a:ext cx="9364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pt-BR" dirty="0"/>
              <a:t>ARRAY</a:t>
            </a:r>
          </a:p>
        </p:txBody>
      </p:sp>
    </p:spTree>
    <p:extLst>
      <p:ext uri="{BB962C8B-B14F-4D97-AF65-F5344CB8AC3E}">
        <p14:creationId xmlns:p14="http://schemas.microsoft.com/office/powerpoint/2010/main" val="23596241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D1BE5-0CF6-5427-7B71-02AE8B9B1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595F0B85-0603-FB3E-003B-E93A0E4FBB5B}"/>
              </a:ext>
            </a:extLst>
          </p:cNvPr>
          <p:cNvSpPr txBox="1"/>
          <p:nvPr/>
        </p:nvSpPr>
        <p:spPr>
          <a:xfrm>
            <a:off x="5249922" y="206009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pt-BR" dirty="0"/>
              <a:t>EXEMPLO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B900E0F-36A7-CE0D-74EF-91649703DF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928" y="1126236"/>
            <a:ext cx="8970264" cy="4922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2295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9E7B47-58F8-2190-62AE-2A3C057EC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88249964-E220-70B7-F790-1FC1B5F077A8}"/>
              </a:ext>
            </a:extLst>
          </p:cNvPr>
          <p:cNvSpPr txBox="1"/>
          <p:nvPr/>
        </p:nvSpPr>
        <p:spPr>
          <a:xfrm rot="20915654">
            <a:off x="102798" y="6405641"/>
            <a:ext cx="1225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pt-BR" dirty="0"/>
              <a:t>Obrigado</a:t>
            </a:r>
          </a:p>
        </p:txBody>
      </p:sp>
    </p:spTree>
    <p:extLst>
      <p:ext uri="{BB962C8B-B14F-4D97-AF65-F5344CB8AC3E}">
        <p14:creationId xmlns:p14="http://schemas.microsoft.com/office/powerpoint/2010/main" val="9417096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ipo de Madeira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{FDF5E21C-3038-4AE3-83EA-762D42699D05}TF2ec419c9-97c3-4958-b02a-0886397d33af47a87ab3-609522d0708d</Template>
  <TotalTime>78</TotalTime>
  <Words>476</Words>
  <Application>Microsoft Office PowerPoint</Application>
  <PresentationFormat>Widescreen</PresentationFormat>
  <Paragraphs>28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1" baseType="lpstr">
      <vt:lpstr>Arial</vt:lpstr>
      <vt:lpstr>Cambria Math</vt:lpstr>
      <vt:lpstr>Rockwell</vt:lpstr>
      <vt:lpstr>Rockwell Condensed</vt:lpstr>
      <vt:lpstr>Wingdings</vt:lpstr>
      <vt:lpstr>Tipo de Madeira</vt:lpstr>
      <vt:lpstr>Array ⊂ Numpy ⊂ python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Marcos Santos</dc:creator>
  <cp:lastModifiedBy>Marcos Santos</cp:lastModifiedBy>
  <cp:revision>2</cp:revision>
  <dcterms:created xsi:type="dcterms:W3CDTF">2025-11-12T16:54:57Z</dcterms:created>
  <dcterms:modified xsi:type="dcterms:W3CDTF">2025-11-12T18:13:21Z</dcterms:modified>
</cp:coreProperties>
</file>